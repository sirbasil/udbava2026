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6" name="Shape 4"/>
          <p:cNvSpPr/>
          <p:nvPr/>
        </p:nvSpPr>
        <p:spPr>
          <a:xfrm>
            <a:off x="5623560" y="0"/>
            <a:ext cx="36576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371600"/>
            <a:ext cx="347472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3749040"/>
            <a:ext cx="3474720" cy="2743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457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261872" y="457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228600" y="1170432"/>
            <a:ext cx="50292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2984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Commerce &amp; Resale Ecosystem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" y="18288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Production-Ready Platform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Institutional Peer-to-Peer Commerce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65960" y="3017520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03320" y="3017520"/>
            <a:ext cx="160020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017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0" y="1554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SRU CAMPUS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85216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students, managers,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administrators 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digital commerce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|  2025  |  SRU Institute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VISION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228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solidFill>
            <a:srgbClr val="1E0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65760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resale system on campus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WhatsApp groups with zero trust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no price transparency, no receipts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digital inventory control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loyalty or reward mechanisms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Overselling &amp; stock conflicts unmanaged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4023360" cy="40233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solidFill>
            <a:srgbClr val="1A14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OUR VISION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657600" cy="3383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all campus commerce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Students, Managers &amp; Admins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3-image verified listings with condition grading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Redis-powered atomic stock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JWT-secured, bcrypt-hashed 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points, fraud flags &amp; real-time alerts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&amp; CREATIVITY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8580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AI-Validated Listings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multi-step selling flow with 3-angle image upload validation — rejects incomplete submissions automatically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68580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Redis Atomic Commerce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18872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DECR-based stock ops prevent overselling. Abandoned cart TTL (15 min) auto-releases held items in real 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68580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8580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7955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Campus-Exclusive 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18872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@sru.edu.in email gate with JWT role tokens ensures only real students access marketplace features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Fraud Detection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33756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Report-item flags trigger admin review. Seller ratings + fraud score analytics create a trust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83464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3464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Loyalty Points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33756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earns points. Gamified dashboard motivates engagement and repeat usage on campus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274320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34640"/>
            <a:ext cx="54864" cy="1920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Command Centre 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337560"/>
            <a:ext cx="2514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analytics, inventory CRUD, logistics tracking and alert system — all in one manager dashboard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 — SYSTEM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8595360" cy="914400"/>
          </a:xfrm>
          <a:prstGeom prst="rect">
            <a:avLst/>
          </a:prstGeom>
          <a:solidFill>
            <a:srgbClr val="1A2A1A"/>
          </a:solidFill>
          <a:ln w="19050">
            <a:solidFill>
              <a:srgbClr val="2D8A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1792"/>
            <a:ext cx="2011680" cy="914400"/>
          </a:xfrm>
          <a:prstGeom prst="rect">
            <a:avLst/>
          </a:prstGeom>
          <a:solidFill>
            <a:srgbClr val="222222"/>
          </a:solidFill>
          <a:ln w="19050">
            <a:solidFill>
              <a:srgbClr val="2D8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13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23160" y="8229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Pages: Home · Exchange Marketplace · Student Dashboard · Command Centre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5361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00784"/>
            <a:ext cx="8595360" cy="914400"/>
          </a:xfrm>
          <a:prstGeom prst="rect">
            <a:avLst/>
          </a:prstGeom>
          <a:solidFill>
            <a:srgbClr val="1A1A2A"/>
          </a:solidFill>
          <a:ln w="19050">
            <a:solidFill>
              <a:srgbClr val="2D4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00784"/>
            <a:ext cx="2011680" cy="914400"/>
          </a:xfrm>
          <a:prstGeom prst="rect">
            <a:avLst/>
          </a:prstGeom>
          <a:solidFill>
            <a:srgbClr val="222222"/>
          </a:solidFill>
          <a:ln w="19050">
            <a:solidFill>
              <a:srgbClr val="2D4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92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176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Role Guards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23160" y="19019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(@sru.edu.in) · Manager · Admin  |  Access + Refresh Tokens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615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859536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79776"/>
            <a:ext cx="2011680" cy="914400"/>
          </a:xfrm>
          <a:prstGeom prst="rect">
            <a:avLst/>
          </a:prstGeom>
          <a:solidFill>
            <a:srgbClr val="222222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71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255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23160" y="29809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 GET /items  POST /buy  POST /sell  PUT /items/:id  DELETE /items/:id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6941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8595360" cy="914400"/>
          </a:xfrm>
          <a:prstGeom prst="rect">
            <a:avLst/>
          </a:prstGeom>
          <a:solidFill>
            <a:srgbClr val="2A1A0A"/>
          </a:solidFill>
          <a:ln w="19050">
            <a:solidFill>
              <a:srgbClr val="8A4D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58768"/>
            <a:ext cx="2011680" cy="914400"/>
          </a:xfrm>
          <a:prstGeom prst="rect">
            <a:avLst/>
          </a:prstGeom>
          <a:solidFill>
            <a:srgbClr val="222222"/>
          </a:solidFill>
          <a:ln w="19050">
            <a:solidFill>
              <a:srgbClr val="8A4D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50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334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Cache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23160" y="40599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Items · Transactions  |  Redis: Stock DECR, Cart TTL, Inventory Cache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 — APP PAGES &amp; FLOWS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05740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94360"/>
            <a:ext cx="2057400" cy="50292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594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 PAGE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" y="1207008"/>
            <a:ext cx="1837944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98448"/>
            <a:ext cx="1719072" cy="1645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1536192"/>
            <a:ext cx="777240" cy="502920"/>
          </a:xfrm>
          <a:prstGeom prst="rect">
            <a:avLst/>
          </a:prstGeom>
          <a:solidFill>
            <a:srgbClr val="1E1800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536192"/>
            <a:ext cx="896112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03120"/>
            <a:ext cx="1719072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" y="2286000"/>
            <a:ext cx="1719072" cy="1097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2468880"/>
            <a:ext cx="914400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880360"/>
            <a:ext cx="1828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RetCom landing &amp; branding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navigation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bar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 preview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594360"/>
            <a:ext cx="205740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594360"/>
            <a:ext cx="2057400" cy="50292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594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EXCHANGE MARKETPLACE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78608" y="1207008"/>
            <a:ext cx="1837944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33472" y="1298448"/>
            <a:ext cx="1719072" cy="1645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2" name="Shape 20"/>
          <p:cNvSpPr/>
          <p:nvPr/>
        </p:nvSpPr>
        <p:spPr>
          <a:xfrm>
            <a:off x="2633472" y="1536192"/>
            <a:ext cx="777240" cy="502920"/>
          </a:xfrm>
          <a:prstGeom prst="rect">
            <a:avLst/>
          </a:prstGeom>
          <a:solidFill>
            <a:srgbClr val="1E1800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1536192"/>
            <a:ext cx="896112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3472" y="2103120"/>
            <a:ext cx="1719072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5" name="Shape 23"/>
          <p:cNvSpPr/>
          <p:nvPr/>
        </p:nvSpPr>
        <p:spPr>
          <a:xfrm>
            <a:off x="2633472" y="2286000"/>
            <a:ext cx="1719072" cy="1097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Shape 24"/>
          <p:cNvSpPr/>
          <p:nvPr/>
        </p:nvSpPr>
        <p:spPr>
          <a:xfrm>
            <a:off x="2633472" y="2468880"/>
            <a:ext cx="914400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608" y="2880360"/>
            <a:ext cx="1828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item grid with filters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Electronics/Apparel/Media/Furniture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Item → purchase flow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deduction via Redis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594360"/>
            <a:ext cx="205740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594360"/>
            <a:ext cx="2057400" cy="50292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594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STUDENT DASHBOARD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64608" y="1207008"/>
            <a:ext cx="1837944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9472" y="1298448"/>
            <a:ext cx="1719072" cy="1645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4919472" y="1536192"/>
            <a:ext cx="777240" cy="502920"/>
          </a:xfrm>
          <a:prstGeom prst="rect">
            <a:avLst/>
          </a:prstGeom>
          <a:solidFill>
            <a:srgbClr val="1E1800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1536192"/>
            <a:ext cx="896112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9472" y="2103120"/>
            <a:ext cx="1719072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9472" y="2286000"/>
            <a:ext cx="1719072" cy="1097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7" name="Shape 35"/>
          <p:cNvSpPr/>
          <p:nvPr/>
        </p:nvSpPr>
        <p:spPr>
          <a:xfrm>
            <a:off x="4919472" y="2468880"/>
            <a:ext cx="914400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2880360"/>
            <a:ext cx="1828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acquisitions history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active listings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tracker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Listing / Submit Artifact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40880" y="594360"/>
            <a:ext cx="205740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594360"/>
            <a:ext cx="2057400" cy="50292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594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COMMAND CENTRE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50608" y="1207008"/>
            <a:ext cx="1837944" cy="155448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5472" y="1298448"/>
            <a:ext cx="1719072" cy="1645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4" name="Shape 42"/>
          <p:cNvSpPr/>
          <p:nvPr/>
        </p:nvSpPr>
        <p:spPr>
          <a:xfrm>
            <a:off x="7205472" y="1536192"/>
            <a:ext cx="777240" cy="502920"/>
          </a:xfrm>
          <a:prstGeom prst="rect">
            <a:avLst/>
          </a:prstGeom>
          <a:solidFill>
            <a:srgbClr val="1E1800"/>
          </a:solidFill>
          <a:ln w="6350">
            <a:solidFill>
              <a:srgbClr val="8B69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8432" y="1536192"/>
            <a:ext cx="896112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05472" y="2103120"/>
            <a:ext cx="1719072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7" name="Shape 45"/>
          <p:cNvSpPr/>
          <p:nvPr/>
        </p:nvSpPr>
        <p:spPr>
          <a:xfrm>
            <a:off x="7205472" y="2286000"/>
            <a:ext cx="1719072" cy="1097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8" name="Shape 46"/>
          <p:cNvSpPr/>
          <p:nvPr/>
        </p:nvSpPr>
        <p:spPr>
          <a:xfrm>
            <a:off x="7205472" y="2468880"/>
            <a:ext cx="914400" cy="10972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9" name="Text 47"/>
          <p:cNvSpPr/>
          <p:nvPr/>
        </p:nvSpPr>
        <p:spPr>
          <a:xfrm>
            <a:off x="7150608" y="2880360"/>
            <a:ext cx="1828800" cy="1920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CRUD (Manager/Admin)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 &amp; logs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alert system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 panel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DEPTH — BACKEND &amp; DATABASE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4023360" cy="36576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594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SCHEMA (PostgreSQL)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3749040" cy="566928"/>
          </a:xfrm>
          <a:prstGeom prst="rect">
            <a:avLst/>
          </a:prstGeom>
          <a:solidFill>
            <a:srgbClr val="0E0E0E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078992"/>
            <a:ext cx="822960" cy="566928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0789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5880" y="1115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email · password_hash · role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1764792"/>
            <a:ext cx="3749040" cy="566928"/>
          </a:xfrm>
          <a:prstGeom prst="rect">
            <a:avLst/>
          </a:prstGeom>
          <a:solidFill>
            <a:srgbClr val="0E0E0E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764792"/>
            <a:ext cx="822960" cy="566928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7647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25880" y="1801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category · price · condition · year · description · seller_id · images[3] · stock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2450592"/>
            <a:ext cx="3749040" cy="566928"/>
          </a:xfrm>
          <a:prstGeom prst="rect">
            <a:avLst/>
          </a:prstGeom>
          <a:solidFill>
            <a:srgbClr val="0E0E0E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450592"/>
            <a:ext cx="822960" cy="566928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4505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2588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buyer_id · item_id · status · created_at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3136392"/>
            <a:ext cx="3749040" cy="566928"/>
          </a:xfrm>
          <a:prstGeom prst="rect">
            <a:avLst/>
          </a:prstGeom>
          <a:solidFill>
            <a:srgbClr val="0E0E0E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136392"/>
            <a:ext cx="822960" cy="566928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1363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25880" y="3172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seller_id · buyer_id · score · comment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3822192"/>
            <a:ext cx="3749040" cy="566928"/>
          </a:xfrm>
          <a:prstGeom prst="rect">
            <a:avLst/>
          </a:prstGeom>
          <a:solidFill>
            <a:srgbClr val="0E0E0E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822192"/>
            <a:ext cx="822960" cy="566928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82219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25880" y="3858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type · message · read · created_at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594360"/>
            <a:ext cx="4297680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8A2D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594360"/>
            <a:ext cx="4297680" cy="36576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94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REDIS OPERATIONS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1051560"/>
            <a:ext cx="402336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 item:stock:{id}  → Atomic stock deduction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cart:{user}:{item} EX 900  → 15-min TTL hold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inventory:cache  → Fast inventory reads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restock:{id}  → Real-time alerts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834640"/>
            <a:ext cx="4297680" cy="205740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834640"/>
            <a:ext cx="4297680" cy="36576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API ENDPOINTS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310128"/>
            <a:ext cx="594360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3101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67528" y="3319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  /login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611880"/>
            <a:ext cx="594360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6118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67528" y="36210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  |  GET /items/:id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3913632"/>
            <a:ext cx="594360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4709160" y="3913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367528" y="3922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  (create listing)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4215384"/>
            <a:ext cx="594360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42153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67528" y="42245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/items/:id  |  DELETE /items/:id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4517136"/>
            <a:ext cx="594360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45171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367528" y="4526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/buy  |  POST /sell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DEPTH — SECURITY &amp; ROLE-BASED ACCESS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393192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3931920" cy="36576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594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124712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24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444752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09344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609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15819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@sru.edu.in (students only)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929384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093976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093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0665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 → verify password hash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414016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578608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551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(access 15m + refresh 7d)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898648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063240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035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embedded in token payload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83280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3547872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47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checks role on every request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867912"/>
            <a:ext cx="27432" cy="1645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" y="4032504"/>
            <a:ext cx="320040" cy="320040"/>
          </a:xfrm>
          <a:prstGeom prst="ellipse">
            <a:avLst/>
          </a:prstGeom>
          <a:solidFill>
            <a:srgbClr val="8B6914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4005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reject invalid tokens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34840" y="594360"/>
            <a:ext cx="443484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594360"/>
            <a:ext cx="4434840" cy="36576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594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ROLE-BASED ACCESS CONTROL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06240" cy="36576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1C7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B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Marketplace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Centre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CRUD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Database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Moderation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(Full)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E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SELLING FLOW — 4-STEP VERIFIED LISTING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2103120" cy="4297680"/>
          </a:xfrm>
          <a:prstGeom prst="rect">
            <a:avLst/>
          </a:prstGeom>
          <a:solidFill>
            <a:srgbClr val="1A1400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640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1737360" cy="1828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2084832"/>
            <a:ext cx="1883664" cy="2743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selection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purchase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grading: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Like New · Good · Fair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description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3160" y="594360"/>
            <a:ext cx="2103120" cy="4297680"/>
          </a:xfrm>
          <a:prstGeom prst="rect">
            <a:avLst/>
          </a:prstGeom>
          <a:solidFill>
            <a:srgbClr val="0A1A0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640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1993392"/>
            <a:ext cx="1737360" cy="1828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084832"/>
            <a:ext cx="1883664" cy="2743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exactly 3 images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= different angle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preview check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&lt; 3 images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Auto-compress on upload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secure URLs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594360"/>
            <a:ext cx="2103120" cy="4297680"/>
          </a:xfrm>
          <a:prstGeom prst="rect">
            <a:avLst/>
          </a:prstGeom>
          <a:solidFill>
            <a:srgbClr val="0A0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640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993392"/>
            <a:ext cx="1737360" cy="1828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2084832"/>
            <a:ext cx="1883664" cy="2743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student JWT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ID auto-attached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verified (@sru)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held for review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 calculated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gate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423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03720" y="594360"/>
            <a:ext cx="2103120" cy="4297680"/>
          </a:xfrm>
          <a:prstGeom prst="rect">
            <a:avLst/>
          </a:prstGeom>
          <a:solidFill>
            <a:srgbClr val="1A0A00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64008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1993392"/>
            <a:ext cx="1737360" cy="1828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2084832"/>
            <a:ext cx="1883664" cy="2743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goes live on Exchange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set in Redis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notified via alert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visible to buyers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rating enabled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 active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— KEY FEATURE SHOWCASE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58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Real-Time 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106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backend API call on keystroke — filters items by name/category with debounce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68580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68580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7589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Category Filters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1064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· Apparel · Media · Furniture — backend SQL WHERE clause filtering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78308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78308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8562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Claim Item 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037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triggers purchase API → Redis DECR stock → transaction created → buyer notified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78308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8562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New Listing 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2037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multi-step form → validates inputs → requires 3 images → saves to PostgreSQL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88036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535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300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alerts, sale confirmations, fraud flags — stored in DB, shown in 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88036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9535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Seller Ratings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3009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Post-transaction rating flow → star score → aggregated on seller profile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97764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97764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0507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Fraud 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398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Report-item button → admin flag → review queue → seller fraud score updated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977640"/>
            <a:ext cx="420624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977640"/>
            <a:ext cx="54864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0507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Loyalty Points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398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buy/sell earns points → displayed on student dashboard → redemption ready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FEASIBILITY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1965960" cy="1188720"/>
          </a:xfrm>
          <a:prstGeom prst="rect">
            <a:avLst/>
          </a:prstGeom>
          <a:solidFill>
            <a:srgbClr val="1A1200"/>
          </a:solidFill>
          <a:ln w="1524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Served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campus deployment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621792"/>
            <a:ext cx="1965960" cy="1188720"/>
          </a:xfrm>
          <a:prstGeom prst="rect">
            <a:avLst/>
          </a:prstGeom>
          <a:solidFill>
            <a:srgbClr val="1A1200"/>
          </a:solidFill>
          <a:ln w="1524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685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Reduction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50592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informal channels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621792"/>
            <a:ext cx="1965960" cy="1188720"/>
          </a:xfrm>
          <a:prstGeom prst="rect">
            <a:avLst/>
          </a:prstGeom>
          <a:solidFill>
            <a:srgbClr val="1A1200"/>
          </a:solidFill>
          <a:ln w="1524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685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Velocity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26864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WhatsApp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03136" y="621792"/>
            <a:ext cx="1965960" cy="1188720"/>
          </a:xfrm>
          <a:prstGeom prst="rect">
            <a:avLst/>
          </a:prstGeom>
          <a:solidFill>
            <a:srgbClr val="1A1200"/>
          </a:solidFill>
          <a:ln w="15240">
            <a:solidFill>
              <a:srgbClr val="8B6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685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03136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03136" y="15361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logged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938528"/>
            <a:ext cx="420624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938528"/>
            <a:ext cx="4206240" cy="347472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377440"/>
            <a:ext cx="39319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unsafe, untracked WhatsApp groups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student-only environment prevents outsiders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condition grading ensures price fairness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 eliminate post-sale disputes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system encourages sustainable campus reuse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oversight reduces fraud and fake listings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multiple colleges in same institution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38528"/>
            <a:ext cx="420624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2D8A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938528"/>
            <a:ext cx="4206240" cy="347472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938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TECHNICAL FEASIBILITY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377440"/>
            <a:ext cx="393192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 is open-source: React, Node, PostgreSQL, Redis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any VPS or university cloud (AWS/GCP)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developer can maintain full stack after launch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ensures zero-cost scaling for concurrent 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— works on student smartphones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 → no server-side session storage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setup cost: &lt; ₹5,000/month on cloud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1645920" cy="4297680"/>
          </a:xfrm>
          <a:prstGeom prst="rect">
            <a:avLst/>
          </a:prstGeom>
          <a:solidFill>
            <a:srgbClr val="1A2030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594360"/>
            <a:ext cx="1645920" cy="4114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1430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(SPA)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8105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78024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47802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145536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1455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(API client)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13048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8130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(analytics)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594360"/>
            <a:ext cx="1645920" cy="4297680"/>
          </a:xfrm>
          <a:prstGeom prst="rect">
            <a:avLst/>
          </a:prstGeom>
          <a:solidFill>
            <a:srgbClr val="1A1A10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594360"/>
            <a:ext cx="1645920" cy="4114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1143000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11430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1810512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18105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(passwords)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2478024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247802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(auth tokens)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145536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31455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3813048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38130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(validation)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594360"/>
            <a:ext cx="1645920" cy="4297680"/>
          </a:xfrm>
          <a:prstGeom prst="rect">
            <a:avLst/>
          </a:prstGeom>
          <a:solidFill>
            <a:srgbClr val="20100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0" y="594360"/>
            <a:ext cx="1645920" cy="4114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931920" y="1143000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50208" y="11430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(main DB)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31920" y="1810512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18105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 + stock)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478024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0208" y="247802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ORM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3145536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0208" y="31455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DECR ops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31920" y="3813048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0208" y="38130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abandoned carts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0" y="594360"/>
            <a:ext cx="1645920" cy="4297680"/>
          </a:xfrm>
          <a:prstGeom prst="rect">
            <a:avLst/>
          </a:prstGeom>
          <a:solidFill>
            <a:srgbClr val="101A10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594360"/>
            <a:ext cx="1645920" cy="4114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47" name="Text 45"/>
          <p:cNvSpPr/>
          <p:nvPr/>
        </p:nvSpPr>
        <p:spPr>
          <a:xfrm>
            <a:off x="566928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60720" y="1143000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9008" y="11430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middleware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1810512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79008" y="18105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760720" y="2478024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79008" y="247802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3145536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79008" y="31455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@sru.edu.in guard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0720" y="3813048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79008" y="38130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0" y="594360"/>
            <a:ext cx="1645920" cy="4297680"/>
          </a:xfrm>
          <a:prstGeom prst="rect">
            <a:avLst/>
          </a:prstGeom>
          <a:solidFill>
            <a:srgbClr val="101018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15200" y="594360"/>
            <a:ext cx="1645920" cy="411480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0" y="594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Deploy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06640" y="1143000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24928" y="11430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06640" y="1810512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24928" y="1810512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06640" y="2478024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24928" y="247802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06640" y="3145536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24928" y="31455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deploy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06640" y="3813048"/>
            <a:ext cx="1463040" cy="548640"/>
          </a:xfrm>
          <a:prstGeom prst="rect">
            <a:avLst/>
          </a:prstGeom>
          <a:solidFill>
            <a:srgbClr val="0E0E0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24928" y="38130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secrets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"/>
            <a:ext cx="256032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ROADMAP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86384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35000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594360"/>
            <a:ext cx="201168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594360"/>
            <a:ext cx="2011680" cy="347472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594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 1-2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996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Auth + 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registration/login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setup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24712" y="2240280"/>
            <a:ext cx="36576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235000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2834640"/>
            <a:ext cx="2011680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34640"/>
            <a:ext cx="2011680" cy="347472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 3-4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3236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584448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CRUD APIs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stock ops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UI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filters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73552" y="2487168"/>
            <a:ext cx="36576" cy="34747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235000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594360"/>
            <a:ext cx="201168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594360"/>
            <a:ext cx="2011680" cy="347472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594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 5-6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996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344168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listing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(3)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logic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market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22392" y="2240280"/>
            <a:ext cx="36576" cy="2286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2350008"/>
            <a:ext cx="274320" cy="2743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0840" y="2834640"/>
            <a:ext cx="2011680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2834640"/>
            <a:ext cx="2011680" cy="347472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Week 7-8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12280" y="3236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Launch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584448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alerts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test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71232" y="2487168"/>
            <a:ext cx="36576" cy="347472"/>
          </a:xfrm>
          <a:prstGeom prst="rect">
            <a:avLst/>
          </a:prstGeom>
          <a:solidFill>
            <a:srgbClr val="8B691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D09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RETCOM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Commerce &amp; Resale Ecosystem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·  Technical Depth  ·  Real Impact  ·  Full-Stack Excellence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Pages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6596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6596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1772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4360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Ops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69480" y="3017520"/>
            <a:ext cx="10972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69480" y="34930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· Node.js · PostgreSQL · Redis · JWT · bcrypt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 Institute  |  Campus Commerce Division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RetCom — Smart Campus Commerce &amp; Resale Ecosystem</dc:title>
  <dc:subject>PptxGenJS Presentation</dc:subject>
  <dc:creator>RetCom Team</dc:creator>
  <cp:lastModifiedBy>RetCom Team</cp:lastModifiedBy>
  <cp:revision>1</cp:revision>
  <dcterms:created xsi:type="dcterms:W3CDTF">2026-04-06T11:48:16Z</dcterms:created>
  <dcterms:modified xsi:type="dcterms:W3CDTF">2026-04-06T11:48:16Z</dcterms:modified>
</cp:coreProperties>
</file>